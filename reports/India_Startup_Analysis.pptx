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Funding ($B)</c:v>
                </c:pt>
              </c:strCache>
            </c:strRef>
          </c:tx>
          <c:spPr>
            <a:solidFill>
              <a:srgbClr val="1F3A7A"/>
            </a:solidFill>
            <a:ln w="38100" cap="flat">
              <a:solidFill>
                <a:srgbClr val="1F3A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3A7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3A7A"/>
              </a:solidFill>
              <a:ln w="9525" cap="flat">
                <a:solidFill>
                  <a:srgbClr val="1F3A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8.6</c:v>
                </c:pt>
                <c:pt idx="1">
                  <c:v>3.8</c:v>
                </c:pt>
                <c:pt idx="2">
                  <c:v>10.4</c:v>
                </c:pt>
                <c:pt idx="3">
                  <c:v>5.1</c:v>
                </c:pt>
                <c:pt idx="4">
                  <c:v>9.7</c:v>
                </c:pt>
                <c:pt idx="5">
                  <c:v>0.39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3A7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Funding ($B)</c:v>
                </c:pt>
              </c:strCache>
            </c:strRef>
          </c:tx>
          <c:spPr>
            <a:solidFill>
              <a:srgbClr val="0F6E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E-Commerce</c:v>
                  </c:pt>
                  <c:pt idx="1">
                    <c:v>Consumer Internet</c:v>
                  </c:pt>
                  <c:pt idx="2">
                    <c:v>Transportation</c:v>
                  </c:pt>
                  <c:pt idx="3">
                    <c:v>FinTech</c:v>
                  </c:pt>
                  <c:pt idx="4">
                    <c:v>Technology</c:v>
                  </c:pt>
                  <c:pt idx="5">
                    <c:v>Healthcare</c:v>
                  </c:pt>
                  <c:pt idx="6">
                    <c:v>EdTech</c:v>
                  </c:pt>
                  <c:pt idx="7">
                    <c:v>Logistics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8.2</c:v>
                </c:pt>
                <c:pt idx="1">
                  <c:v>6.2</c:v>
                </c:pt>
                <c:pt idx="2">
                  <c:v>3.9</c:v>
                </c:pt>
                <c:pt idx="3">
                  <c:v>3.3</c:v>
                </c:pt>
                <c:pt idx="4">
                  <c:v>2.3</c:v>
                </c:pt>
                <c:pt idx="5">
                  <c:v>0.87</c:v>
                </c:pt>
                <c:pt idx="6">
                  <c:v>0.72</c:v>
                </c:pt>
                <c:pt idx="7">
                  <c:v>0.65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Startup Count</c:v>
                </c:pt>
              </c:strCache>
            </c:strRef>
          </c:tx>
          <c:spPr>
            <a:solidFill>
              <a:srgbClr val="1F3A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Bengaluru</c:v>
                  </c:pt>
                  <c:pt idx="1">
                    <c:v>Mumbai</c:v>
                  </c:pt>
                  <c:pt idx="2">
                    <c:v>Delhi</c:v>
                  </c:pt>
                  <c:pt idx="3">
                    <c:v>Gurugram</c:v>
                  </c:pt>
                  <c:pt idx="4">
                    <c:v>Chennai</c:v>
                  </c:pt>
                  <c:pt idx="5">
                    <c:v>Hyderabad</c:v>
                  </c:pt>
                  <c:pt idx="6">
                    <c:v>Pune</c:v>
                  </c:pt>
                  <c:pt idx="7">
                    <c:v>Noida</c:v>
                  </c:pt>
                  <c:pt idx="8">
                    <c:v>Ahmedabad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582</c:v>
                </c:pt>
                <c:pt idx="1">
                  <c:v>397</c:v>
                </c:pt>
                <c:pt idx="2">
                  <c:v>266</c:v>
                </c:pt>
                <c:pt idx="3">
                  <c:v>241</c:v>
                </c:pt>
                <c:pt idx="4">
                  <c:v>75</c:v>
                </c:pt>
                <c:pt idx="5">
                  <c:v>72</c:v>
                </c:pt>
                <c:pt idx="6">
                  <c:v>71</c:v>
                </c:pt>
                <c:pt idx="7">
                  <c:v>55</c:v>
                </c:pt>
                <c:pt idx="8">
                  <c:v>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Deals</c:v>
                </c:pt>
              </c:strCache>
            </c:strRef>
          </c:tx>
          <c:spPr>
            <a:solidFill>
              <a:srgbClr val="0F6E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Private Equity</c:v>
                  </c:pt>
                  <c:pt idx="1">
                    <c:v>Seed</c:v>
                  </c:pt>
                  <c:pt idx="2">
                    <c:v>Seed/Angel</c:v>
                  </c:pt>
                  <c:pt idx="3">
                    <c:v>Debt</c:v>
                  </c:pt>
                  <c:pt idx="4">
                    <c:v>Series A</c:v>
                  </c:pt>
                  <c:pt idx="5">
                    <c:v>Series B</c:v>
                  </c:pt>
                  <c:pt idx="6">
                    <c:v>Series C</c:v>
                  </c:pt>
                  <c:pt idx="7">
                    <c:v>Series D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1074</c:v>
                </c:pt>
                <c:pt idx="1">
                  <c:v>745</c:v>
                </c:pt>
                <c:pt idx="2">
                  <c:v>110</c:v>
                </c:pt>
                <c:pt idx="3">
                  <c:v>25</c:v>
                </c:pt>
                <c:pt idx="4">
                  <c:v>22</c:v>
                </c:pt>
                <c:pt idx="5">
                  <c:v>20</c:v>
                </c:pt>
                <c:pt idx="6">
                  <c:v>14</c:v>
                </c:pt>
                <c:pt idx="7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($M)</c:v>
                </c:pt>
              </c:strCache>
            </c:strRef>
          </c:tx>
          <c:spPr>
            <a:solidFill>
              <a:srgbClr val="1F3A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Private Equity</c:v>
                  </c:pt>
                  <c:pt idx="1">
                    <c:v>Seed</c:v>
                  </c:pt>
                  <c:pt idx="2">
                    <c:v>Seed/Angel</c:v>
                  </c:pt>
                  <c:pt idx="3">
                    <c:v>Debt</c:v>
                  </c:pt>
                  <c:pt idx="4">
                    <c:v>Series A</c:v>
                  </c:pt>
                  <c:pt idx="5">
                    <c:v>Series B</c:v>
                  </c:pt>
                  <c:pt idx="6">
                    <c:v>Series C</c:v>
                  </c:pt>
                  <c:pt idx="7">
                    <c:v>Series D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</c:v>
                </c:pt>
                <c:pt idx="1">
                  <c:v>0.5</c:v>
                </c:pt>
                <c:pt idx="2">
                  <c:v>0.8</c:v>
                </c:pt>
                <c:pt idx="3">
                  <c:v>4</c:v>
                </c:pt>
                <c:pt idx="4">
                  <c:v>7</c:v>
                </c:pt>
                <c:pt idx="5">
                  <c:v>240</c:v>
                </c:pt>
                <c:pt idx="6">
                  <c:v>75</c:v>
                </c:pt>
                <c:pt idx="7">
                  <c:v>122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Unicorns</c:v>
                </c:pt>
              </c:strCache>
            </c:strRef>
          </c:tx>
          <c:spPr>
            <a:solidFill>
              <a:srgbClr val="1F3A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3A7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2011</c:v>
                  </c:pt>
                  <c:pt idx="1">
                    <c:v>2012</c:v>
                  </c:pt>
                  <c:pt idx="2">
                    <c:v>2013</c:v>
                  </c:pt>
                  <c:pt idx="3">
                    <c:v>2014</c:v>
                  </c:pt>
                  <c:pt idx="4">
                    <c:v>2015</c:v>
                  </c:pt>
                  <c:pt idx="5">
                    <c:v>2016</c:v>
                  </c:pt>
                  <c:pt idx="6">
                    <c:v>2018</c:v>
                  </c:pt>
                  <c:pt idx="7">
                    <c:v>2019</c:v>
                  </c:pt>
                  <c:pt idx="8">
                    <c:v>2020</c:v>
                  </c:pt>
                  <c:pt idx="9">
                    <c:v>2021</c:v>
                  </c:pt>
                  <c:pt idx="10">
                    <c:v>2022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4</c:v>
                </c:pt>
                <c:pt idx="5">
                  <c:v>2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44</c:v>
                </c:pt>
                <c:pt idx="10">
                  <c:v>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3A7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Valuation ($B)</c:v>
                </c:pt>
              </c:strCache>
            </c:strRef>
          </c:tx>
          <c:spPr>
            <a:solidFill>
              <a:srgbClr val="0F6E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Flipkart</c:v>
                  </c:pt>
                  <c:pt idx="1">
                    <c:v>BYJU'S</c:v>
                  </c:pt>
                  <c:pt idx="2">
                    <c:v>PayTM</c:v>
                  </c:pt>
                  <c:pt idx="3">
                    <c:v>PhonePe</c:v>
                  </c:pt>
                  <c:pt idx="4">
                    <c:v>Swiggy</c:v>
                  </c:pt>
                  <c:pt idx="5">
                    <c:v>Polygon</c:v>
                  </c:pt>
                  <c:pt idx="6">
                    <c:v>OYO Rooms</c:v>
                  </c:pt>
                  <c:pt idx="7">
                    <c:v>Dream11</c:v>
                  </c:pt>
                  <c:pt idx="8">
                    <c:v>RazorPay</c:v>
                  </c:pt>
                  <c:pt idx="9">
                    <c:v>Ola Cabs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37.6</c:v>
                </c:pt>
                <c:pt idx="1">
                  <c:v>22</c:v>
                </c:pt>
                <c:pt idx="2">
                  <c:v>16</c:v>
                </c:pt>
                <c:pt idx="3">
                  <c:v>12</c:v>
                </c:pt>
                <c:pt idx="4">
                  <c:v>10.7</c:v>
                </c:pt>
                <c:pt idx="5">
                  <c:v>10</c:v>
                </c:pt>
                <c:pt idx="6">
                  <c:v>9.6</c:v>
                </c:pt>
                <c:pt idx="7">
                  <c:v>8</c:v>
                </c:pt>
                <c:pt idx="8">
                  <c:v>7.5</c:v>
                </c:pt>
                <c:pt idx="9">
                  <c:v>7.3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Deals</c:v>
                </c:pt>
              </c:strCache>
            </c:strRef>
          </c:tx>
          <c:spPr>
            <a:solidFill>
              <a:srgbClr val="1F3A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Sequoia Capital</c:v>
                  </c:pt>
                  <c:pt idx="1">
                    <c:v>Accel Partners</c:v>
                  </c:pt>
                  <c:pt idx="2">
                    <c:v>SAIF Partners</c:v>
                  </c:pt>
                  <c:pt idx="3">
                    <c:v>Kalaari Capital</c:v>
                  </c:pt>
                  <c:pt idx="4">
                    <c:v>Blume Ventures</c:v>
                  </c:pt>
                  <c:pt idx="5">
                    <c:v>Nexus Venture</c:v>
                  </c:pt>
                  <c:pt idx="6">
                    <c:v>Tiger Global</c:v>
                  </c:pt>
                  <c:pt idx="7">
                    <c:v>IDG Ventures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68</c:v>
                </c:pt>
                <c:pt idx="1">
                  <c:v>58</c:v>
                </c:pt>
                <c:pt idx="2">
                  <c:v>47</c:v>
                </c:pt>
                <c:pt idx="3">
                  <c:v>47</c:v>
                </c:pt>
                <c:pt idx="4">
                  <c:v>35</c:v>
                </c:pt>
                <c:pt idx="5">
                  <c:v>27</c:v>
                </c:pt>
                <c:pt idx="6">
                  <c:v>27</c:v>
                </c:pt>
                <c:pt idx="7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STARTUP ECOSYSTEM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Funding, Growth &amp; Unicorn Trends (2015–2023)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22860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377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Harnoor Kaur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22860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2377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68880" y="2651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CGC University, Mohali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22860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377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0" y="2651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(Batch-3)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22860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377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75120" y="2651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2419864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1F3A7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657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$38.05B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Funding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0" y="356616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1F3A7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60320" y="3657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2,059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560320" y="4114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Analyzed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356616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1F3A7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0" y="3657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72000" y="4114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Unicorns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583680" y="356616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1F3A7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83680" y="3657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3.03%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583680" y="4114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Training Project  |  2026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EEF1FA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28016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1F3A7A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4128" y="129844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6F6F6"/>
          </a:solidFill>
          <a:ln/>
        </p:spPr>
      </p:sp>
      <p:sp>
        <p:nvSpPr>
          <p:cNvPr id="9" name="Shape 7"/>
          <p:cNvSpPr/>
          <p:nvPr/>
        </p:nvSpPr>
        <p:spPr>
          <a:xfrm>
            <a:off x="530352" y="2029968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1F3A7A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0299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24128" y="204825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Methodology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88336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EEF1FA"/>
          </a:solidFill>
          <a:ln/>
        </p:spPr>
      </p:sp>
      <p:sp>
        <p:nvSpPr>
          <p:cNvPr id="13" name="Shape 11"/>
          <p:cNvSpPr/>
          <p:nvPr/>
        </p:nvSpPr>
        <p:spPr>
          <a:xfrm>
            <a:off x="530352" y="2779776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1F3A7A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7797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24128" y="279806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Trends (2015–2020)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38144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6F6F6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3529584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1F3A7A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5295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4128" y="354787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&amp; City Analysis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187952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EEF1FA"/>
          </a:solidFill>
          <a:ln/>
        </p:spPr>
      </p:sp>
      <p:sp>
        <p:nvSpPr>
          <p:cNvPr id="21" name="Shape 19"/>
          <p:cNvSpPr/>
          <p:nvPr/>
        </p:nvSpPr>
        <p:spPr>
          <a:xfrm>
            <a:off x="530352" y="4279392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1F3A7A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4279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24128" y="429768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Stage Analysis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118872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6F6F6"/>
          </a:solidFill>
          <a:ln/>
        </p:spPr>
      </p:sp>
      <p:sp>
        <p:nvSpPr>
          <p:cNvPr id="25" name="Shape 23"/>
          <p:cNvSpPr/>
          <p:nvPr/>
        </p:nvSpPr>
        <p:spPr>
          <a:xfrm>
            <a:off x="4919472" y="128016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1F3A7A"/>
          </a:solidFill>
          <a:ln/>
        </p:spPr>
      </p:sp>
      <p:sp>
        <p:nvSpPr>
          <p:cNvPr id="26" name="Text 24"/>
          <p:cNvSpPr/>
          <p:nvPr/>
        </p:nvSpPr>
        <p:spPr>
          <a:xfrm>
            <a:off x="4919472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13248" y="129844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Unicorn Companies Deep-Dive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1938528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EEF1FA"/>
          </a:solidFill>
          <a:ln/>
        </p:spPr>
      </p:sp>
      <p:sp>
        <p:nvSpPr>
          <p:cNvPr id="29" name="Shape 27"/>
          <p:cNvSpPr/>
          <p:nvPr/>
        </p:nvSpPr>
        <p:spPr>
          <a:xfrm>
            <a:off x="4919472" y="2029968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1F3A7A"/>
          </a:solidFill>
          <a:ln/>
        </p:spPr>
      </p:sp>
      <p:sp>
        <p:nvSpPr>
          <p:cNvPr id="30" name="Text 28"/>
          <p:cNvSpPr/>
          <p:nvPr/>
        </p:nvSpPr>
        <p:spPr>
          <a:xfrm>
            <a:off x="4919472" y="20299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13248" y="204825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Insights &amp; Statistics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2688336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6F6F6"/>
          </a:solidFill>
          <a:ln/>
        </p:spPr>
      </p:sp>
      <p:sp>
        <p:nvSpPr>
          <p:cNvPr id="33" name="Shape 31"/>
          <p:cNvSpPr/>
          <p:nvPr/>
        </p:nvSpPr>
        <p:spPr>
          <a:xfrm>
            <a:off x="4919472" y="2779776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1F3A7A"/>
          </a:solidFill>
          <a:ln/>
        </p:spPr>
      </p:sp>
      <p:sp>
        <p:nvSpPr>
          <p:cNvPr id="34" name="Text 32"/>
          <p:cNvSpPr/>
          <p:nvPr/>
        </p:nvSpPr>
        <p:spPr>
          <a:xfrm>
            <a:off x="4919472" y="27797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13248" y="279806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46320" y="3438144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EEF1FA"/>
          </a:solidFill>
          <a:ln/>
        </p:spPr>
      </p:sp>
      <p:sp>
        <p:nvSpPr>
          <p:cNvPr id="37" name="Shape 35"/>
          <p:cNvSpPr/>
          <p:nvPr/>
        </p:nvSpPr>
        <p:spPr>
          <a:xfrm>
            <a:off x="4919472" y="3529584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1F3A7A"/>
          </a:solidFill>
          <a:ln/>
        </p:spPr>
      </p:sp>
      <p:sp>
        <p:nvSpPr>
          <p:cNvPr id="38" name="Text 36"/>
          <p:cNvSpPr/>
          <p:nvPr/>
        </p:nvSpPr>
        <p:spPr>
          <a:xfrm>
            <a:off x="4919472" y="35295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13248" y="354787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Conclusion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analyze India's startup ecosystem using real-world data, uncovering funding trends, sector growth, investor activity, geographic distribution, and the rise of unicorn companies.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sectors raised the most funding between 2015–2024?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total startup funding grown year-over-year?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cities dominate the Indian startup landscape?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unicorns has India produced and which sectors lead?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CAGR of India's startup funding from 2015–2019?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investors have the largest portfolio in India?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Methodology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00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Startup Funding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(SRK)  |  3,044 rows | 2015–2020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606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Unicorn Startups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 |  102 rows | 2011–2023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155448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0FAF6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600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1874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Matplotlib, Seaborn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37744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0FAF6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2423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697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 — 4 business queries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320040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0FAF6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3246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3520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+ KPI cards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402336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0FAF6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4069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4343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with 25+ commits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Trends (2015–2020)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18872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EEF1FA"/>
          </a:solidFill>
          <a:ln/>
        </p:spPr>
      </p:sp>
      <p:sp>
        <p:nvSpPr>
          <p:cNvPr id="6" name="Text 3"/>
          <p:cNvSpPr/>
          <p:nvPr/>
        </p:nvSpPr>
        <p:spPr>
          <a:xfrm>
            <a:off x="6309360" y="1234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$10.4B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309360" y="1554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Peak — highest funding year (172% YoY growth)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217920" y="205740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6F6F6"/>
          </a:solidFill>
          <a:ln/>
        </p:spPr>
      </p:sp>
      <p:sp>
        <p:nvSpPr>
          <p:cNvPr id="9" name="Text 6"/>
          <p:cNvSpPr/>
          <p:nvPr/>
        </p:nvSpPr>
        <p:spPr>
          <a:xfrm>
            <a:off x="6309360" y="2103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3.03%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309360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from 2015 to 2019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217920" y="292608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6F6F6"/>
          </a:solidFill>
          <a:ln/>
        </p:spPr>
      </p:sp>
      <p:sp>
        <p:nvSpPr>
          <p:cNvPr id="12" name="Text 9"/>
          <p:cNvSpPr/>
          <p:nvPr/>
        </p:nvSpPr>
        <p:spPr>
          <a:xfrm>
            <a:off x="630936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+89.3%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309360" y="3291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recovery in 2019 after 2018 dip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17920" y="379476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6F6F6"/>
          </a:solidFill>
          <a:ln/>
        </p:spPr>
      </p:sp>
      <p:sp>
        <p:nvSpPr>
          <p:cNvPr id="15" name="Text 12"/>
          <p:cNvSpPr/>
          <p:nvPr/>
        </p:nvSpPr>
        <p:spPr>
          <a:xfrm>
            <a:off x="6309360" y="3840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rows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309360" y="4160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data is incomplete — dataset ends early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Sector-wise Funding Analysis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6692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217920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217920" y="155448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0FAF6"/>
          </a:solidFill>
          <a:ln/>
        </p:spPr>
      </p:sp>
      <p:sp>
        <p:nvSpPr>
          <p:cNvPr id="7" name="Text 4"/>
          <p:cNvSpPr/>
          <p:nvPr/>
        </p:nvSpPr>
        <p:spPr>
          <a:xfrm>
            <a:off x="6309360" y="164592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leads
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$8.2B — after fixing duplicate sector names (eCommerce + ECommerce + E-commerce merged).
</a:t>
            </a:r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sectors
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for over 60% of total funding.
</a:t>
            </a:r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&amp; EdTech
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emerging rapidly with growing investor interest.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Distribution of Startups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6692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18872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EEF1FA"/>
          </a:solidFill>
          <a:ln/>
        </p:spPr>
      </p:sp>
      <p:sp>
        <p:nvSpPr>
          <p:cNvPr id="6" name="Text 3"/>
          <p:cNvSpPr/>
          <p:nvPr/>
        </p:nvSpPr>
        <p:spPr>
          <a:xfrm>
            <a:off x="6309360" y="1234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309360" y="1554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— India's Startup Capital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217920" y="205740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6F6F6"/>
          </a:solidFill>
          <a:ln/>
        </p:spPr>
      </p:sp>
      <p:sp>
        <p:nvSpPr>
          <p:cNvPr id="9" name="Text 6"/>
          <p:cNvSpPr/>
          <p:nvPr/>
        </p:nvSpPr>
        <p:spPr>
          <a:xfrm>
            <a:off x="6309360" y="2103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397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309360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— Financial Hub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217920" y="292608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EEF1FA"/>
          </a:solidFill>
          <a:ln/>
        </p:spPr>
      </p:sp>
      <p:sp>
        <p:nvSpPr>
          <p:cNvPr id="12" name="Text 9"/>
          <p:cNvSpPr/>
          <p:nvPr/>
        </p:nvSpPr>
        <p:spPr>
          <a:xfrm>
            <a:off x="630936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507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309360" y="3291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NCR (Delhi+Gurugram combined)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17920" y="379476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6F6F6"/>
          </a:solidFill>
          <a:ln/>
        </p:spPr>
      </p:sp>
      <p:sp>
        <p:nvSpPr>
          <p:cNvPr id="15" name="Text 12"/>
          <p:cNvSpPr/>
          <p:nvPr/>
        </p:nvSpPr>
        <p:spPr>
          <a:xfrm>
            <a:off x="6309360" y="3840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70%+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309360" y="4160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in top 3 metro clusters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Stage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by Stage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463040"/>
          <a:ext cx="41148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Deal Size ($M)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754880" y="1463040"/>
          <a:ext cx="41148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Unicorn Companies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Unicorns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68880" y="109728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143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$37.6B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468880" y="15727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Valuation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(Flipkart)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109728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143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$1.85B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15727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Valuation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75120" y="109728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143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75120" y="15727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Year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(44 Unicorns)</a:t>
            </a:r>
            <a:endParaRPr lang="en-US" sz="9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365760" y="2148840"/>
          <a:ext cx="8412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Indian Unicorns by Valuation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6692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21792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Unicorns by Sector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217920" y="1508760"/>
            <a:ext cx="2560320" cy="548640"/>
          </a:xfrm>
          <a:prstGeom prst="roundRect">
            <a:avLst>
              <a:gd name="adj" fmla="val 10000"/>
            </a:avLst>
          </a:prstGeom>
          <a:solidFill>
            <a:srgbClr val="F0FAF6"/>
          </a:solidFill>
          <a:ln/>
        </p:spPr>
      </p:sp>
      <p:sp>
        <p:nvSpPr>
          <p:cNvPr id="7" name="Text 4"/>
          <p:cNvSpPr/>
          <p:nvPr/>
        </p:nvSpPr>
        <p:spPr>
          <a:xfrm>
            <a:off x="6309360" y="1618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0" y="16184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2194560"/>
            <a:ext cx="2560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6309360" y="23042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0" y="23042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2880360"/>
            <a:ext cx="2560320" cy="548640"/>
          </a:xfrm>
          <a:prstGeom prst="roundRect">
            <a:avLst>
              <a:gd name="adj" fmla="val 10000"/>
            </a:avLst>
          </a:prstGeom>
          <a:solidFill>
            <a:srgbClr val="F0FAF6"/>
          </a:solidFill>
          <a:ln/>
        </p:spPr>
      </p:sp>
      <p:sp>
        <p:nvSpPr>
          <p:cNvPr id="13" name="Text 10"/>
          <p:cNvSpPr/>
          <p:nvPr/>
        </p:nvSpPr>
        <p:spPr>
          <a:xfrm>
            <a:off x="6309360" y="29900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0" y="2990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17920" y="3566160"/>
            <a:ext cx="2560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0" y="36758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29600" y="36758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17920" y="4251960"/>
            <a:ext cx="2560320" cy="548640"/>
          </a:xfrm>
          <a:prstGeom prst="roundRect">
            <a:avLst>
              <a:gd name="adj" fmla="val 10000"/>
            </a:avLst>
          </a:prstGeom>
          <a:solidFill>
            <a:srgbClr val="F0FAF6"/>
          </a:solidFill>
          <a:ln/>
        </p:spPr>
      </p:sp>
      <p:sp>
        <p:nvSpPr>
          <p:cNvPr id="19" name="Text 16"/>
          <p:cNvSpPr/>
          <p:nvPr/>
        </p:nvSpPr>
        <p:spPr>
          <a:xfrm>
            <a:off x="6309360" y="43616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229600" y="43616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Investors in India's Startup Ecosystem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84124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Insights (SQLite)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EEF1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 — Top 5 Most Funded Startups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Flipkart ($4.06B), Rapido ($3.9B), Paytm ($3.15B), Ola ($984M), Udaan ($870M)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0FA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48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 — Top Cities by Avg Deal Size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Menlo Park ($450M), California ($300M), India/Singapore ($226M)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06324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EEF1F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108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3 — Funding by Investment Type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74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Private Equity: 1,074 deals, $27.3B total | Series B: 20 deals, $4.8B total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40233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0FAF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069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4 — Unicorns by Sector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EdTech (5), E-Commerce (4), Logistics (4), Used Cars (4), Gaming (3)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EEF1F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Deals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35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2,059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EEF1FA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188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Deal Size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92040" y="1435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$18.48M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1892808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6F6F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9385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Deal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1854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$1.75M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54880" y="1892808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6F6F6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9385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Deviation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21854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$121.55M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2642616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EEF1F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6883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Deal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29352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$16,000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54880" y="2642616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EEF1FA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26883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29352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$3.90B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5760" y="3392424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6F6F6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4381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Unicorns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3685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54880" y="3392424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6F6F6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4381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Valuation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3685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$3.40B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5760" y="4142232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EEF1FA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41879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Valuation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4434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$1.85B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754880" y="4142232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EEF1FA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41879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(2015–19)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4434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3.03%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161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Leads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fixing duplicate sector names, E-Commerce tops funding at $8.2B — not Consumer Internet as raw data suggested.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2404872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0FAF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4780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Dominates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81635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582 startups, Bengaluru has 1.5x more startups than Mumbai — India's undisputed startup capital.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666744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7398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Unicorn Boom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07822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new unicorns were created in 2021 alone — driven by post-COVID digital adoption and global liquidity.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14300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0FAF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12161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B Insight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5544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B has the highest avg deal size ($240M) — the critical inflection point for scaling startups.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404872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4780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Inequality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281635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($18.48M) vs Median ($1.75M) gap reveals extreme funding concentration among a few large deals.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666744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0FAF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37398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Concentration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407822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Sequoia, Accel, and SAIF account for a disproportionate share of early-stage deals in India.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startup ecosystem is one of the world's fastest-growing — volatile but resilient.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analytics pipeline: data collection → cleaning → EDA → SQL → dashboard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data cleaning revealed true insights hidden in raw messy data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was India's most significant unicorn year with 44 new entrants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Bengaluru, Mumbai &amp; Delhi NCR account for 70%+ of all startup activity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($8.2B) is the most funded sector after standardization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Used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397764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1F3A7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97764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83080" y="397764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1F3A7A"/>
          </a:solidFill>
          <a:ln/>
        </p:spPr>
      </p:sp>
      <p:sp>
        <p:nvSpPr>
          <p:cNvPr id="10" name="Text 8"/>
          <p:cNvSpPr/>
          <p:nvPr/>
        </p:nvSpPr>
        <p:spPr>
          <a:xfrm>
            <a:off x="1783080" y="397764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34640" y="397764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1F3A7A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397764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86200" y="397764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1F3A7A"/>
          </a:solidFill>
          <a:ln/>
        </p:spPr>
      </p:sp>
      <p:sp>
        <p:nvSpPr>
          <p:cNvPr id="14" name="Text 12"/>
          <p:cNvSpPr/>
          <p:nvPr/>
        </p:nvSpPr>
        <p:spPr>
          <a:xfrm>
            <a:off x="3886200" y="397764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37760" y="397764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1F3A7A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397764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89320" y="397764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1F3A7A"/>
          </a:solidFill>
          <a:ln/>
        </p:spPr>
      </p:sp>
      <p:sp>
        <p:nvSpPr>
          <p:cNvPr id="18" name="Text 16"/>
          <p:cNvSpPr/>
          <p:nvPr/>
        </p:nvSpPr>
        <p:spPr>
          <a:xfrm>
            <a:off x="5989320" y="397764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40880" y="397764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1F3A7A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397764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092440" y="397764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1F3A7A"/>
          </a:solidFill>
          <a:ln/>
        </p:spPr>
      </p:sp>
      <p:sp>
        <p:nvSpPr>
          <p:cNvPr id="22" name="Text 20"/>
          <p:cNvSpPr/>
          <p:nvPr/>
        </p:nvSpPr>
        <p:spPr>
          <a:xfrm>
            <a:off x="8092440" y="397764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Git/GitHub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Harnoor Kaur  |  CGC University, Mohali  |  Roll No: 2419864  |  2026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Startup Ecosystem Analysis</dc:title>
  <dc:subject>PptxGenJS Presentation</dc:subject>
  <dc:creator>Harnoor Kaur</dc:creator>
  <cp:lastModifiedBy>Harnoor Kaur</cp:lastModifiedBy>
  <cp:revision>1</cp:revision>
  <dcterms:created xsi:type="dcterms:W3CDTF">2026-07-02T18:22:17Z</dcterms:created>
  <dcterms:modified xsi:type="dcterms:W3CDTF">2026-07-02T18:22:17Z</dcterms:modified>
</cp:coreProperties>
</file>